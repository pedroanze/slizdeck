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04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días de frontera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761970" y="1873240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5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TÉCNICA · 06 SEPTIEMBRE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26669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días de frontera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61970" y="3797229"/>
            <a:ext cx="10667756" cy="571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lanzó la primera semana de septiembre de 2026, qué cambió de verdad y cuánto cuesta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lanzamientos en cuatro días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terreno ya se había movido en julio y agosto: Kimi K3 (2,8 T de parámetros, pesos abiertos), Qwen3.8-Max y DeepSeek V4-Pro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LISTA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modelos, dos órdenes de magnitud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587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estándar publicadas al 06 de septiembre de 2026. Qwen anunció que abriría un modelo de la familia Max, pero los pesos todavía no están publicados.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EFECTIVO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descuento no está en la tarifa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1111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7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61970" y="3060588"/>
            <a:ext cx="10667756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GPT-6 ASTRA · CACHÉ POR MTOK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1970" y="3251149"/>
            <a:ext cx="10667756" cy="279349"/>
          </a:xfrm>
          <a:prstGeom prst="rect">
            <a:avLst/>
          </a:prstGeom>
          <a:solidFill>
            <a:srgbClr val="E6EBEF"/>
          </a:solidFill>
          <a:ln/>
        </p:spPr>
      </p:sp>
      <p:sp>
        <p:nvSpPr>
          <p:cNvPr id="7" name="Text 5"/>
          <p:cNvSpPr/>
          <p:nvPr/>
        </p:nvSpPr>
        <p:spPr>
          <a:xfrm>
            <a:off x="825520" y="3251149"/>
            <a:ext cx="10540746" cy="2793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970" y="3720968"/>
            <a:ext cx="10667756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FABLE 5 · CACHÉ POR MTOK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970" y="3911529"/>
            <a:ext cx="10667756" cy="279349"/>
          </a:xfrm>
          <a:prstGeom prst="rect">
            <a:avLst/>
          </a:prstGeom>
          <a:solidFill>
            <a:srgbClr val="E6EBEF"/>
          </a:solidFill>
          <a:ln/>
        </p:spPr>
      </p:sp>
      <p:sp>
        <p:nvSpPr>
          <p:cNvPr id="10" name="Text 8"/>
          <p:cNvSpPr/>
          <p:nvPr/>
        </p:nvSpPr>
        <p:spPr>
          <a:xfrm>
            <a:off x="825520" y="3911529"/>
            <a:ext cx="10540746" cy="2793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970" y="4381348"/>
            <a:ext cx="10667756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 · CACHÉ POR MTOK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1970" y="4571909"/>
            <a:ext cx="3200309" cy="279349"/>
          </a:xfrm>
          <a:prstGeom prst="rect">
            <a:avLst/>
          </a:prstGeom>
          <a:solidFill>
            <a:srgbClr val="E6EB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5520" y="4571909"/>
            <a:ext cx="3073298" cy="2793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970" y="5041819"/>
            <a:ext cx="10667756" cy="152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FABLE 5.1 · CACHÉ POR MTOK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1970" y="5232288"/>
            <a:ext cx="2666939" cy="279349"/>
          </a:xfrm>
          <a:prstGeom prst="rect">
            <a:avLst/>
          </a:prstGeom>
          <a:solidFill>
            <a:srgbClr val="0F5FD6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20" y="5232288"/>
            <a:ext cx="2539929" cy="2793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5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Ahora, los números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2158990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modelos sobre el mismo banco de pruebas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TERMINAL-BENCH 4.0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que gana no se puede comprar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587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tareas resueltas en Terminal-Bench 4.0. Mythos 5.1 solo se sirve a organizaciones verificadas de ciberseguridad y ciencias de la vida.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gana cada uno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barre en matemática, ciencia y agentes de terminal, y pierde la única prueba de conocimiento abierto de la tabla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modelo, dos puertas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se mide: 55,8 contra 60,9 en Terminal-Bench 4.0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2187519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Salvaguardas de producción activas. Se llama desde la API de Anthropic, Amazon Bedrock, Google Cloud y Microsoft Foundry.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70" y="2879628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 base, sin los límites que las salvaguardas de producción imponen. Reservado a ciberseguridad y ciencias de la vida.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5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333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frente abierto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61970" y="2158990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que se pueden descargar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modelos que se descargan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61970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439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2439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439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modelo de pesos abiertos publicado hasta hoy. Su licencia condiciona el uso comercial de inferencia por encima de 20 millones de dólares anuales de ingresos.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45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6115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6115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Qwen3.8-Max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6115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Anunciado como el primer Max que Alibaba planea abrir, pero la publicación de los pesos todavía no ocurrió. Hoy solo se accede por API.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9230" y="1733520"/>
            <a:ext cx="3420405" cy="190497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9791" y="1949409"/>
            <a:ext cx="3039466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99791" y="2228759"/>
            <a:ext cx="3039466" cy="292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V4-Pro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9791" y="2584369"/>
            <a:ext cx="3039466" cy="863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Empatado con Claude Opus 4.7 en SWE-bench Verified, 80,6 contra 80,8, y por delante en LiveCodeBench con 93,5.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separa a los dos extremos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111117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0" dirty="0">
                <a:solidFill>
                  <a:srgbClr val="7A1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57x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761970" y="30605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GPT-6 Astra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48" y="30605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970" y="3289188"/>
            <a:ext cx="10667756" cy="63459"/>
          </a:xfrm>
          <a:prstGeom prst="roundRect">
            <a:avLst>
              <a:gd name="adj" fmla="val 720465"/>
            </a:avLst>
          </a:prstGeom>
          <a:solidFill>
            <a:srgbClr val="E6EBEF"/>
          </a:solidFill>
          <a:ln/>
        </p:spPr>
      </p:sp>
      <p:sp>
        <p:nvSpPr>
          <p:cNvPr id="8" name="Shape 6"/>
          <p:cNvSpPr/>
          <p:nvPr/>
        </p:nvSpPr>
        <p:spPr>
          <a:xfrm>
            <a:off x="761970" y="3289188"/>
            <a:ext cx="10667756" cy="63459"/>
          </a:xfrm>
          <a:prstGeom prst="roundRect">
            <a:avLst>
              <a:gd name="adj" fmla="val 720465"/>
            </a:avLst>
          </a:prstGeom>
          <a:solidFill>
            <a:srgbClr val="0F5FD6"/>
          </a:solidFill>
          <a:ln/>
        </p:spPr>
      </p:sp>
      <p:sp>
        <p:nvSpPr>
          <p:cNvPr id="9" name="Text 7"/>
          <p:cNvSpPr/>
          <p:nvPr/>
        </p:nvSpPr>
        <p:spPr>
          <a:xfrm>
            <a:off x="761970" y="35177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5848" y="35177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1970" y="3746388"/>
            <a:ext cx="10667756" cy="63459"/>
          </a:xfrm>
          <a:prstGeom prst="roundRect">
            <a:avLst>
              <a:gd name="adj" fmla="val 720465"/>
            </a:avLst>
          </a:prstGeom>
          <a:solidFill>
            <a:srgbClr val="E6EB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970" y="3746388"/>
            <a:ext cx="3200309" cy="63459"/>
          </a:xfrm>
          <a:prstGeom prst="roundRect">
            <a:avLst>
              <a:gd name="adj" fmla="val 720465"/>
            </a:avLst>
          </a:prstGeom>
          <a:solidFill>
            <a:srgbClr val="0F5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61970" y="39749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Qwen3.8-Max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48" y="39749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1970" y="4203588"/>
            <a:ext cx="10667756" cy="63459"/>
          </a:xfrm>
          <a:prstGeom prst="roundRect">
            <a:avLst>
              <a:gd name="adj" fmla="val 720465"/>
            </a:avLst>
          </a:prstGeom>
          <a:solidFill>
            <a:srgbClr val="E6EB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1970" y="4203588"/>
            <a:ext cx="1280160" cy="63459"/>
          </a:xfrm>
          <a:prstGeom prst="roundRect">
            <a:avLst>
              <a:gd name="adj" fmla="val 720465"/>
            </a:avLst>
          </a:prstGeom>
          <a:solidFill>
            <a:srgbClr val="0F5FD6"/>
          </a:solidFill>
          <a:ln/>
        </p:spPr>
      </p:sp>
      <p:sp>
        <p:nvSpPr>
          <p:cNvPr id="17" name="Text 15"/>
          <p:cNvSpPr/>
          <p:nvPr/>
        </p:nvSpPr>
        <p:spPr>
          <a:xfrm>
            <a:off x="761970" y="44321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V4-Pro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5848" y="4432188"/>
            <a:ext cx="5333878" cy="190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1970" y="4660788"/>
            <a:ext cx="10667756" cy="63459"/>
          </a:xfrm>
          <a:prstGeom prst="roundRect">
            <a:avLst>
              <a:gd name="adj" fmla="val 720465"/>
            </a:avLst>
          </a:prstGeom>
          <a:solidFill>
            <a:srgbClr val="E6EBE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970" y="4660788"/>
            <a:ext cx="181326" cy="63459"/>
          </a:xfrm>
          <a:prstGeom prst="roundRect">
            <a:avLst>
              <a:gd name="adj" fmla="val 720465"/>
            </a:avLst>
          </a:prstGeom>
          <a:solidFill>
            <a:srgbClr val="0F5FD6"/>
          </a:solidFill>
          <a:ln/>
        </p:spPr>
      </p:sp>
      <p:sp>
        <p:nvSpPr>
          <p:cNvPr id="21" name="Text 19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0F5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6032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decisiones concretas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61970" y="1733520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días de lanzamientos, una sola pregunta: qué carga tenés y cuánto estás pagando por ella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1970" y="2187519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y Fable 5.1 cobran lo mismo por token. La diferencia vive en la caché, que es donde se va el gasto de un agente.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1970" y="2879628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de benchmarks no da un ganador único. Elegir el eje que se parece a tu carga real y descartar el resto.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1970" y="3571829"/>
            <a:ext cx="10667756" cy="238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K3 y DeepSeek V4-Pro absorben el volumen. El modelo caro queda para lo que de verdad lo necesita.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970" y="4025829"/>
            <a:ext cx="10667756" cy="4762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8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5.1 y Fable 5.1 son el mismo modelo con distintas salvaguardas. Solo uno de los dos se puede contratar.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5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609539"/>
            <a:ext cx="10667756" cy="19047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970" y="914400"/>
            <a:ext cx="10667756" cy="1047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lunes, medí tu caché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61970" y="2178009"/>
            <a:ext cx="10667756" cy="285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cifras de esta charla, con su fuente, están en el README del repositorio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70" y="6248278"/>
            <a:ext cx="10667756" cy="215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Anze · Sesión técnica ·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Cinco días de frontera · Modelos de IA, primera semana de septiembre 2026</dc:title>
  <dc:subject>PptxGenJS Presentation</dc:subject>
  <dc:creator>slizdeck</dc:creator>
  <cp:lastModifiedBy>slizdeck</cp:lastModifiedBy>
  <cp:revision>1</cp:revision>
  <dcterms:created xsi:type="dcterms:W3CDTF">2026-09-06T22:47:46Z</dcterms:created>
  <dcterms:modified xsi:type="dcterms:W3CDTF">2026-09-06T22:47:46Z</dcterms:modified>
</cp:coreProperties>
</file>