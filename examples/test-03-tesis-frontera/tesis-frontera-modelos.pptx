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7A52"/>
        </a:solidFill>
      </p:bgPr>
    </p:bg>
    <p:spTree>
      <p:nvGrpSpPr>
        <p:cNvPr id="1" name=""/>
        <p:cNvGrpSpPr/>
        <p:nvPr/>
      </p:nvGrpSpPr>
      <p:grpSpPr>
        <a:xfrm>
          <a:off x="0" y="0"/>
          <a:ext cx="0" cy="0"/>
          <a:chOff x="0" y="0"/>
          <a:chExt cx="0" cy="0"/>
        </a:xfrm>
      </p:grpSpPr>
      <p:sp>
        <p:nvSpPr>
          <p:cNvPr id="2" name="Text 0"/>
          <p:cNvSpPr/>
          <p:nvPr/>
        </p:nvSpPr>
        <p:spPr>
          <a:xfrm>
            <a:off x="761970" y="609539"/>
            <a:ext cx="10667756" cy="2095439"/>
          </a:xfrm>
          <a:prstGeom prst="rect">
            <a:avLst/>
          </a:prstGeom>
          <a:noFill/>
          <a:ln/>
        </p:spPr>
        <p:txBody>
          <a:bodyPr wrap="square" rtlCol="0" anchor="t">
            <a:normAutofit/>
          </a:bodyPr>
          <a:lstStyle/>
          <a:p>
            <a:pPr algn="l" indent="0" marL="0">
              <a:lnSpc>
                <a:spcPct val="115000"/>
              </a:lnSpc>
              <a:buNone/>
            </a:pPr>
            <a:r>
              <a:rPr lang="en-US" sz="6600" dirty="0">
                <a:solidFill>
                  <a:srgbClr val="FFFFFF"/>
                </a:solidFill>
                <a:latin typeface="Cambria" pitchFamily="34" charset="0"/>
                <a:ea typeface="Cambria" pitchFamily="34" charset="-122"/>
                <a:cs typeface="Cambria" pitchFamily="34" charset="-120"/>
              </a:rPr>
              <a:t>La frontera cambió de moneda</a:t>
            </a:r>
            <a:endParaRPr lang="en-US" sz="6600" dirty="0"/>
          </a:p>
        </p:txBody>
      </p:sp>
      <p:sp>
        <p:nvSpPr>
          <p:cNvPr id="3" name="Text 1"/>
          <p:cNvSpPr/>
          <p:nvPr/>
        </p:nvSpPr>
        <p:spPr>
          <a:xfrm>
            <a:off x="761970" y="2920959"/>
            <a:ext cx="10667756" cy="285750"/>
          </a:xfrm>
          <a:prstGeom prst="rect">
            <a:avLst/>
          </a:prstGeom>
          <a:noFill/>
          <a:ln/>
        </p:spPr>
        <p:txBody>
          <a:bodyPr wrap="square" rtlCol="0" anchor="t">
            <a:normAutofit/>
          </a:bodyP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Qué compra hoy la capacidad de un modelo, y quién puede pagarla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D7A52"/>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FFFFFF"/>
                </a:solidFill>
                <a:latin typeface="Calibri" pitchFamily="34" charset="0"/>
                <a:ea typeface="Calibri" pitchFamily="34" charset="-122"/>
                <a:cs typeface="Calibri" pitchFamily="34" charset="-120"/>
              </a:rPr>
              <a:t>CHARLA DE TESIS · 6 DE SEPTIEMBRE DE 2026</a:t>
            </a:r>
            <a:endParaRPr lang="en-US" sz="1200" dirty="0"/>
          </a:p>
        </p:txBody>
      </p:sp>
      <p:sp>
        <p:nvSpPr>
          <p:cNvPr id="3" name="Text 1"/>
          <p:cNvSpPr/>
          <p:nvPr/>
        </p:nvSpPr>
        <p:spPr>
          <a:xfrm>
            <a:off x="761970" y="914400"/>
            <a:ext cx="10667756" cy="2666939"/>
          </a:xfrm>
          <a:prstGeom prst="rect">
            <a:avLst/>
          </a:prstGeom>
          <a:noFill/>
          <a:ln/>
        </p:spPr>
        <p:txBody>
          <a:bodyPr wrap="square" rtlCol="0" anchor="t">
            <a:normAutofit/>
          </a:bodyPr>
          <a:lstStyle/>
          <a:p>
            <a:pPr algn="l" indent="0" marL="0">
              <a:lnSpc>
                <a:spcPct val="115000"/>
              </a:lnSpc>
              <a:buNone/>
            </a:pPr>
            <a:r>
              <a:rPr lang="en-US" sz="8400" dirty="0">
                <a:solidFill>
                  <a:srgbClr val="FFFFFF"/>
                </a:solidFill>
                <a:latin typeface="Cambria" pitchFamily="34" charset="0"/>
                <a:ea typeface="Cambria" pitchFamily="34" charset="-122"/>
                <a:cs typeface="Cambria" pitchFamily="34" charset="-120"/>
              </a:rPr>
              <a:t>La frontera cambió de moneda</a:t>
            </a:r>
            <a:endParaRPr lang="en-US" sz="8400" dirty="0"/>
          </a:p>
        </p:txBody>
      </p:sp>
      <p:sp>
        <p:nvSpPr>
          <p:cNvPr id="4" name="Text 2"/>
          <p:cNvSpPr/>
          <p:nvPr/>
        </p:nvSpPr>
        <p:spPr>
          <a:xfrm>
            <a:off x="761970" y="3797229"/>
            <a:ext cx="10667756" cy="571500"/>
          </a:xfrm>
          <a:prstGeom prst="rect">
            <a:avLst/>
          </a:prstGeom>
          <a:noFill/>
          <a:ln/>
        </p:spPr>
        <p:txBody>
          <a:bodyPr wrap="square" rtlCol="0" anchor="t">
            <a:normAutofit/>
          </a:bodyP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El escalado dejó de ser la variable de decisión. Lo que viene se decide en el coste marginal del razonamiento</a:t>
            </a:r>
            <a:endParaRPr lang="en-US" sz="18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FFFFFF">
                    <a:alpha val="70000"/>
                  </a:srgbClr>
                </a:solidFill>
                <a:latin typeface="Calibri" pitchFamily="34" charset="0"/>
                <a:ea typeface="Calibri" pitchFamily="34" charset="-122"/>
                <a:cs typeface="Calibri" pitchFamily="34" charset="-120"/>
              </a:rPr>
              <a:t>Tesis de frontera · sep 2026 · 01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LA TESIS</a:t>
            </a:r>
            <a:endParaRPr lang="en-US" sz="1200" dirty="0"/>
          </a:p>
        </p:txBody>
      </p:sp>
      <p:sp>
        <p:nvSpPr>
          <p:cNvPr id="3" name="Text 1"/>
          <p:cNvSpPr/>
          <p:nvPr/>
        </p:nvSpPr>
        <p:spPr>
          <a:xfrm>
            <a:off x="761970" y="914400"/>
            <a:ext cx="10667756" cy="603230"/>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La frontera ya no se compra: se gana</a:t>
            </a:r>
            <a:endParaRPr lang="en-US" sz="3800" dirty="0"/>
          </a:p>
        </p:txBody>
      </p:sp>
      <p:sp>
        <p:nvSpPr>
          <p:cNvPr id="4" name="Text 2"/>
          <p:cNvSpPr/>
          <p:nvPr/>
        </p:nvSpPr>
        <p:spPr>
          <a:xfrm>
            <a:off x="761970" y="1733520"/>
            <a:ext cx="10667756" cy="71432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Entre 2020 y 2024 la capacidad se compraba con cómputo de pre-entrenamiento. Desde abril de 2024 la curva de capacidad se acelera justo cuando datos, energía y capex se vuelven restricciones vinculantes. Esa aceleración no sale del pre-entrenamiento: sale del razonamiento, que es cómputo de inferencia.</a:t>
            </a:r>
            <a:endParaRPr lang="en-US" sz="1500" dirty="0"/>
          </a:p>
        </p:txBody>
      </p:sp>
      <p:sp>
        <p:nvSpPr>
          <p:cNvPr id="5" name="Text 3"/>
          <p:cNvSpPr/>
          <p:nvPr/>
        </p:nvSpPr>
        <p:spPr>
          <a:xfrm>
            <a:off x="761970" y="2663739"/>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El precio de una capacidad fija se desploma mientras el precio de la frontera del día sube. No es contradicción: son dos mercados distintos.</a:t>
            </a:r>
            <a:endParaRPr lang="en-US" sz="1500" dirty="0"/>
          </a:p>
        </p:txBody>
      </p:sp>
      <p:sp>
        <p:nvSpPr>
          <p:cNvPr id="6" name="Text 4"/>
          <p:cNvSpPr/>
          <p:nvPr/>
        </p:nvSpPr>
        <p:spPr>
          <a:xfrm>
            <a:off x="761970" y="3355848"/>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La ventaja de los pesos cerrados se comprimió a meses, no a años. Un foso de capex no protege una frontera que se gana en inferencia.</a:t>
            </a:r>
            <a:endParaRPr lang="en-US" sz="1500" dirty="0"/>
          </a:p>
        </p:txBody>
      </p:sp>
      <p:sp>
        <p:nvSpPr>
          <p:cNvPr id="7" name="Text 5"/>
          <p:cNvSpPr/>
          <p:nvPr/>
        </p:nvSpPr>
        <p:spPr>
          <a:xfrm>
            <a:off x="761970" y="4048049"/>
            <a:ext cx="10667756" cy="23811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Hacia 2030 el límite que muerde primero es la red eléctrica, no el corpus de texto.</a:t>
            </a:r>
            <a:endParaRPr lang="en-US" sz="1500" dirty="0"/>
          </a:p>
        </p:txBody>
      </p:sp>
      <p:sp>
        <p:nvSpPr>
          <p:cNvPr id="8" name="Text 6"/>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02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7A52"/>
        </a:solidFill>
      </p:bgPr>
    </p:bg>
    <p:spTree>
      <p:nvGrpSpPr>
        <p:cNvPr id="1" name=""/>
        <p:cNvGrpSpPr/>
        <p:nvPr/>
      </p:nvGrpSpPr>
      <p:grpSpPr>
        <a:xfrm>
          <a:off x="0" y="0"/>
          <a:ext cx="0" cy="0"/>
          <a:chOff x="0" y="0"/>
          <a:chExt cx="0" cy="0"/>
        </a:xfrm>
      </p:grpSpPr>
      <p:sp>
        <p:nvSpPr>
          <p:cNvPr id="2" name="Text 0"/>
          <p:cNvSpPr/>
          <p:nvPr/>
        </p:nvSpPr>
        <p:spPr>
          <a:xfrm>
            <a:off x="761970" y="609539"/>
            <a:ext cx="10667756" cy="1333470"/>
          </a:xfrm>
          <a:prstGeom prst="rect">
            <a:avLst/>
          </a:prstGeom>
          <a:noFill/>
          <a:ln/>
        </p:spPr>
        <p:txBody>
          <a:bodyPr wrap="square" rtlCol="0" anchor="t">
            <a:normAutofit/>
          </a:bodyPr>
          <a:lstStyle/>
          <a:p>
            <a:pPr algn="ctr" indent="0" marL="0">
              <a:lnSpc>
                <a:spcPct val="115000"/>
              </a:lnSpc>
              <a:buNone/>
            </a:pPr>
            <a:r>
              <a:rPr lang="en-US" sz="8400" dirty="0">
                <a:solidFill>
                  <a:srgbClr val="FFFFFF"/>
                </a:solidFill>
                <a:latin typeface="Cambria" pitchFamily="34" charset="0"/>
                <a:ea typeface="Cambria" pitchFamily="34" charset="-122"/>
                <a:cs typeface="Cambria" pitchFamily="34" charset="-120"/>
              </a:rPr>
              <a:t>La moneda vieja</a:t>
            </a:r>
            <a:endParaRPr lang="en-US" sz="8400" dirty="0"/>
          </a:p>
        </p:txBody>
      </p:sp>
      <p:sp>
        <p:nvSpPr>
          <p:cNvPr id="3" name="Text 1"/>
          <p:cNvSpPr/>
          <p:nvPr/>
        </p:nvSpPr>
        <p:spPr>
          <a:xfrm>
            <a:off x="761970" y="2158990"/>
            <a:ext cx="10667756" cy="285750"/>
          </a:xfrm>
          <a:prstGeom prst="rect">
            <a:avLst/>
          </a:prstGeom>
          <a:noFill/>
          <a:ln/>
        </p:spPr>
        <p:txBody>
          <a:bodyPr wrap="square" rtlCol="0" anchor="t">
            <a:normAutofit/>
          </a:bodyPr>
          <a:lstStyle/>
          <a:p>
            <a:pPr algn="ctr" indent="0" marL="0">
              <a:lnSpc>
                <a:spcPct val="115000"/>
              </a:lnSpc>
              <a:buNone/>
            </a:pPr>
            <a:r>
              <a:rPr lang="en-US" sz="1800" dirty="0">
                <a:solidFill>
                  <a:srgbClr val="FFFFFF"/>
                </a:solidFill>
                <a:latin typeface="Calibri" pitchFamily="34" charset="0"/>
                <a:ea typeface="Calibri" pitchFamily="34" charset="-122"/>
                <a:cs typeface="Calibri" pitchFamily="34" charset="-120"/>
              </a:rPr>
              <a:t>01 · Qué compraba el cómputo de pre-entrenamiento</a:t>
            </a:r>
            <a:endParaRPr lang="en-US" sz="1800" dirty="0"/>
          </a:p>
        </p:txBody>
      </p:sp>
      <p:sp>
        <p:nvSpPr>
          <p:cNvPr id="4" name="Text 2"/>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FFFFFF">
                    <a:alpha val="70000"/>
                  </a:srgbClr>
                </a:solidFill>
                <a:latin typeface="Calibri" pitchFamily="34" charset="0"/>
                <a:ea typeface="Calibri" pitchFamily="34" charset="-122"/>
                <a:cs typeface="Calibri" pitchFamily="34" charset="-120"/>
              </a:rPr>
              <a:t>Tesis de frontera · sep 2026 · 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LA LEY QUE FUNCIONÓ</a:t>
            </a:r>
            <a:endParaRPr lang="en-US" sz="1200" dirty="0"/>
          </a:p>
        </p:txBody>
      </p:sp>
      <p:sp>
        <p:nvSpPr>
          <p:cNvPr id="3" name="Text 1"/>
          <p:cNvSpPr/>
          <p:nvPr/>
        </p:nvSpPr>
        <p:spPr>
          <a:xfrm>
            <a:off x="761970" y="914400"/>
            <a:ext cx="10667756" cy="603230"/>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Catorce años multiplicando por cinco</a:t>
            </a:r>
            <a:endParaRPr lang="en-US" sz="3800" dirty="0"/>
          </a:p>
        </p:txBody>
      </p:sp>
      <p:sp>
        <p:nvSpPr>
          <p:cNvPr id="4" name="Text 2"/>
          <p:cNvSpPr/>
          <p:nvPr/>
        </p:nvSpPr>
        <p:spPr>
          <a:xfrm>
            <a:off x="761970" y="1733520"/>
            <a:ext cx="10667756" cy="95243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Fuente: Epoch AI, "Training compute of frontier AI models grows by 4-5x per year" (28 may 2024). Modelos notables 4,1x/año (IC 90%: 3,7x a 4,6x); frontera 5,3x/año (IC 90%: 4,9x a 5,7x). La banda dibujada está anclada en el valor citado de GPT-4 (2e25 FLOP, mar 2023); los tres puntos son los valores publicados por Epoch, no una serie completa.</a:t>
            </a:r>
            <a:endParaRPr lang="en-US" sz="15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04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LO QUE EL ESCALADO COMPRÓ</a:t>
            </a:r>
            <a:endParaRPr lang="en-US" sz="1200" dirty="0"/>
          </a:p>
        </p:txBody>
      </p:sp>
      <p:sp>
        <p:nvSpPr>
          <p:cNvPr id="3" name="Text 1"/>
          <p:cNvSpPr/>
          <p:nvPr/>
        </p:nvSpPr>
        <p:spPr>
          <a:xfrm>
            <a:off x="761970" y="914400"/>
            <a:ext cx="10667756" cy="1206459"/>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Una capacidad alcanzada se vuelve casi gratis</a:t>
            </a:r>
            <a:endParaRPr lang="en-US" sz="3800" dirty="0"/>
          </a:p>
        </p:txBody>
      </p:sp>
      <p:sp>
        <p:nvSpPr>
          <p:cNvPr id="4" name="Text 2"/>
          <p:cNvSpPr/>
          <p:nvPr/>
        </p:nvSpPr>
        <p:spPr>
          <a:xfrm>
            <a:off x="761970" y="2336749"/>
            <a:ext cx="10667756" cy="95243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Fuente: Epoch AI, "LLM inference prices have fallen rapidly but unequally across tasks" (12 mar 2025). Precio por millón de tokens para igualar un nivel fijo en MMLU. Nivel GPT-3: 60,00 USD (nov 2021) a 0,07 USD (Gemini 1.5 Flash-8B, oct 2024). Nivel GPT-4: 37,50 USD (GPT-4-0314, mar 2023) a 0,18 USD (Gemini 2.0 Flash, feb 2025). El ritmo de caída va de 9x a 900x por año según el hito medido.</a:t>
            </a:r>
            <a:endParaRPr lang="en-US" sz="15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05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7A52"/>
        </a:solidFill>
      </p:bgPr>
    </p:bg>
    <p:spTree>
      <p:nvGrpSpPr>
        <p:cNvPr id="1" name=""/>
        <p:cNvGrpSpPr/>
        <p:nvPr/>
      </p:nvGrpSpPr>
      <p:grpSpPr>
        <a:xfrm>
          <a:off x="0" y="0"/>
          <a:ext cx="0" cy="0"/>
          <a:chOff x="0" y="0"/>
          <a:chExt cx="0" cy="0"/>
        </a:xfrm>
      </p:grpSpPr>
      <p:sp>
        <p:nvSpPr>
          <p:cNvPr id="2" name="Text 0"/>
          <p:cNvSpPr/>
          <p:nvPr/>
        </p:nvSpPr>
        <p:spPr>
          <a:xfrm>
            <a:off x="761970" y="609539"/>
            <a:ext cx="10667756" cy="1333470"/>
          </a:xfrm>
          <a:prstGeom prst="rect">
            <a:avLst/>
          </a:prstGeom>
          <a:noFill/>
          <a:ln/>
        </p:spPr>
        <p:txBody>
          <a:bodyPr wrap="square" rtlCol="0" anchor="t">
            <a:normAutofit/>
          </a:bodyPr>
          <a:lstStyle/>
          <a:p>
            <a:pPr algn="ctr" indent="0" marL="0">
              <a:lnSpc>
                <a:spcPct val="115000"/>
              </a:lnSpc>
              <a:buNone/>
            </a:pPr>
            <a:r>
              <a:rPr lang="en-US" sz="8400" dirty="0">
                <a:solidFill>
                  <a:srgbClr val="FFFFFF"/>
                </a:solidFill>
                <a:latin typeface="Cambria" pitchFamily="34" charset="0"/>
                <a:ea typeface="Cambria" pitchFamily="34" charset="-122"/>
                <a:cs typeface="Cambria" pitchFamily="34" charset="-120"/>
              </a:rPr>
              <a:t>El quiebre</a:t>
            </a:r>
            <a:endParaRPr lang="en-US" sz="8400" dirty="0"/>
          </a:p>
        </p:txBody>
      </p:sp>
      <p:sp>
        <p:nvSpPr>
          <p:cNvPr id="3" name="Text 1"/>
          <p:cNvSpPr/>
          <p:nvPr/>
        </p:nvSpPr>
        <p:spPr>
          <a:xfrm>
            <a:off x="761970" y="2158990"/>
            <a:ext cx="10667756" cy="285750"/>
          </a:xfrm>
          <a:prstGeom prst="rect">
            <a:avLst/>
          </a:prstGeom>
          <a:noFill/>
          <a:ln/>
        </p:spPr>
        <p:txBody>
          <a:bodyPr wrap="square" rtlCol="0" anchor="t">
            <a:normAutofit/>
          </a:bodyPr>
          <a:lstStyle/>
          <a:p>
            <a:pPr algn="ctr" indent="0" marL="0">
              <a:lnSpc>
                <a:spcPct val="115000"/>
              </a:lnSpc>
              <a:buNone/>
            </a:pPr>
            <a:r>
              <a:rPr lang="en-US" sz="1800" dirty="0">
                <a:solidFill>
                  <a:srgbClr val="FFFFFF"/>
                </a:solidFill>
                <a:latin typeface="Calibri" pitchFamily="34" charset="0"/>
                <a:ea typeface="Calibri" pitchFamily="34" charset="-122"/>
                <a:cs typeface="Calibri" pitchFamily="34" charset="-120"/>
              </a:rPr>
              <a:t>02 · Abril de 2024, cuando la curva cambió de pendiente</a:t>
            </a:r>
            <a:endParaRPr lang="en-US" sz="1800" dirty="0"/>
          </a:p>
        </p:txBody>
      </p:sp>
      <p:sp>
        <p:nvSpPr>
          <p:cNvPr id="4" name="Text 2"/>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FFFFFF">
                    <a:alpha val="70000"/>
                  </a:srgbClr>
                </a:solidFill>
                <a:latin typeface="Calibri" pitchFamily="34" charset="0"/>
                <a:ea typeface="Calibri" pitchFamily="34" charset="-122"/>
                <a:cs typeface="Calibri" pitchFamily="34" charset="-120"/>
              </a:rPr>
              <a:t>Tesis de frontera · sep 2026 · 06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EL DATO QUE SOSTIENE LA TESIS</a:t>
            </a:r>
            <a:endParaRPr lang="en-US" sz="1200" dirty="0"/>
          </a:p>
        </p:txBody>
      </p:sp>
      <p:sp>
        <p:nvSpPr>
          <p:cNvPr id="3" name="Text 1"/>
          <p:cNvSpPr/>
          <p:nvPr/>
        </p:nvSpPr>
        <p:spPr>
          <a:xfrm>
            <a:off x="761970" y="914400"/>
            <a:ext cx="10667756" cy="1206459"/>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La capacidad se aceleró cuando el pre-entrenamiento se encarecía</a:t>
            </a:r>
            <a:endParaRPr lang="en-US" sz="3800" dirty="0"/>
          </a:p>
        </p:txBody>
      </p:sp>
      <p:sp>
        <p:nvSpPr>
          <p:cNvPr id="4" name="Text 2"/>
          <p:cNvSpPr/>
          <p:nvPr/>
        </p:nvSpPr>
        <p:spPr>
          <a:xfrm>
            <a:off x="761970" y="2336749"/>
            <a:ext cx="10667756" cy="119064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Fuentes: Epoch AI, "AI capabilities progress has sped up" (23 dic 2025): regresión de dos segmentos, 17 puntos de frontera (dic 2021 a dic 2025), quiebre el 8 abr 2024, pendiente de 8,3 a 15,5 puntos ECI/año, factor 1,85x, R2 = 0,9653. Y Epoch AI, "The ECI frontier has advanced by 14 points per year..." (1 sep 2026): Claude Fable 5 en 162,48 ECI. Las dos rectas se reconstruyen con las pendientes publicadas, ancladas en el único valor absoluto publicado.</a:t>
            </a:r>
            <a:endParaRPr lang="en-US" sz="15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07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LO DICEN LOS QUE LO ESTÁN CONSTRUYENDO</a:t>
            </a:r>
            <a:endParaRPr lang="en-US" sz="1200" dirty="0"/>
          </a:p>
        </p:txBody>
      </p:sp>
      <p:sp>
        <p:nvSpPr>
          <p:cNvPr id="3" name="Text 1"/>
          <p:cNvSpPr/>
          <p:nvPr/>
        </p:nvSpPr>
        <p:spPr>
          <a:xfrm>
            <a:off x="761970" y="914400"/>
            <a:ext cx="10667756" cy="603230"/>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Lo que se escala cambió antes que la curva</a:t>
            </a:r>
            <a:endParaRPr lang="en-US" sz="3800" dirty="0"/>
          </a:p>
        </p:txBody>
      </p:sp>
      <p:sp>
        <p:nvSpPr>
          <p:cNvPr id="4" name="Text 2"/>
          <p:cNvSpPr/>
          <p:nvPr/>
        </p:nvSpPr>
        <p:spPr>
          <a:xfrm>
            <a:off x="761970" y="1733520"/>
            <a:ext cx="10667756" cy="71432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Citas verbatim en su idioma original, sin traducir, para no alterar la formulación. Amodei fecha el cambio de objeto de escalado en 2024, el mismo año del quiebre que mide Epoch. Sutskever describe la consecuencia: el cómputo sigue creciendo, pero deja de ser la variable que explica el progreso.</a:t>
            </a:r>
            <a:endParaRPr lang="en-US" sz="15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7A52"/>
        </a:solidFill>
      </p:bgPr>
    </p:bg>
    <p:spTree>
      <p:nvGrpSpPr>
        <p:cNvPr id="1" name=""/>
        <p:cNvGrpSpPr/>
        <p:nvPr/>
      </p:nvGrpSpPr>
      <p:grpSpPr>
        <a:xfrm>
          <a:off x="0" y="0"/>
          <a:ext cx="0" cy="0"/>
          <a:chOff x="0" y="0"/>
          <a:chExt cx="0" cy="0"/>
        </a:xfrm>
      </p:grpSpPr>
      <p:sp>
        <p:nvSpPr>
          <p:cNvPr id="2" name="Text 0"/>
          <p:cNvSpPr/>
          <p:nvPr/>
        </p:nvSpPr>
        <p:spPr>
          <a:xfrm>
            <a:off x="761970" y="609539"/>
            <a:ext cx="10667756" cy="1333470"/>
          </a:xfrm>
          <a:prstGeom prst="rect">
            <a:avLst/>
          </a:prstGeom>
          <a:noFill/>
          <a:ln/>
        </p:spPr>
        <p:txBody>
          <a:bodyPr wrap="square" rtlCol="0" anchor="t">
            <a:normAutofit/>
          </a:bodyPr>
          <a:lstStyle/>
          <a:p>
            <a:pPr algn="ctr" indent="0" marL="0">
              <a:lnSpc>
                <a:spcPct val="115000"/>
              </a:lnSpc>
              <a:buNone/>
            </a:pPr>
            <a:r>
              <a:rPr lang="en-US" sz="8400" dirty="0">
                <a:solidFill>
                  <a:srgbClr val="FFFFFF"/>
                </a:solidFill>
                <a:latin typeface="Cambria" pitchFamily="34" charset="0"/>
                <a:ea typeface="Cambria" pitchFamily="34" charset="-122"/>
                <a:cs typeface="Cambria" pitchFamily="34" charset="-120"/>
              </a:rPr>
              <a:t>La factura</a:t>
            </a:r>
            <a:endParaRPr lang="en-US" sz="8400" dirty="0"/>
          </a:p>
        </p:txBody>
      </p:sp>
      <p:sp>
        <p:nvSpPr>
          <p:cNvPr id="3" name="Text 1"/>
          <p:cNvSpPr/>
          <p:nvPr/>
        </p:nvSpPr>
        <p:spPr>
          <a:xfrm>
            <a:off x="761970" y="2158990"/>
            <a:ext cx="10667756" cy="285750"/>
          </a:xfrm>
          <a:prstGeom prst="rect">
            <a:avLst/>
          </a:prstGeom>
          <a:noFill/>
          <a:ln/>
        </p:spPr>
        <p:txBody>
          <a:bodyPr wrap="square" rtlCol="0" anchor="t">
            <a:normAutofit/>
          </a:bodyPr>
          <a:lstStyle/>
          <a:p>
            <a:pPr algn="ctr" indent="0" marL="0">
              <a:lnSpc>
                <a:spcPct val="115000"/>
              </a:lnSpc>
              <a:buNone/>
            </a:pPr>
            <a:r>
              <a:rPr lang="en-US" sz="1800" dirty="0">
                <a:solidFill>
                  <a:srgbClr val="FFFFFF"/>
                </a:solidFill>
                <a:latin typeface="Calibri" pitchFamily="34" charset="0"/>
                <a:ea typeface="Calibri" pitchFamily="34" charset="-122"/>
                <a:cs typeface="Calibri" pitchFamily="34" charset="-120"/>
              </a:rPr>
              <a:t>03 · Datos, energía y capex: tres relojes distintos</a:t>
            </a:r>
            <a:endParaRPr lang="en-US" sz="1800" dirty="0"/>
          </a:p>
        </p:txBody>
      </p:sp>
      <p:sp>
        <p:nvSpPr>
          <p:cNvPr id="4" name="Text 2"/>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FFFFFF">
                    <a:alpha val="70000"/>
                  </a:srgbClr>
                </a:solidFill>
                <a:latin typeface="Calibri" pitchFamily="34" charset="0"/>
                <a:ea typeface="Calibri" pitchFamily="34" charset="-122"/>
                <a:cs typeface="Calibri" pitchFamily="34" charset="-120"/>
              </a:rPr>
              <a:t>Tesis de frontera · sep 2026 · 09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LOS LÍMITES, ORDENADOS POR CUÁNDO MUERDEN</a:t>
            </a:r>
            <a:endParaRPr lang="en-US" sz="1200" dirty="0"/>
          </a:p>
        </p:txBody>
      </p:sp>
      <p:sp>
        <p:nvSpPr>
          <p:cNvPr id="3" name="Text 1"/>
          <p:cNvSpPr/>
          <p:nvPr/>
        </p:nvSpPr>
        <p:spPr>
          <a:xfrm>
            <a:off x="761970" y="914400"/>
            <a:ext cx="10667756" cy="603230"/>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Ninguno de los tres es el mismo problema</a:t>
            </a:r>
            <a:endParaRPr lang="en-US" sz="3800" dirty="0"/>
          </a:p>
        </p:txBody>
      </p:sp>
      <p:sp>
        <p:nvSpPr>
          <p:cNvPr id="4" name="Text 2"/>
          <p:cNvSpPr/>
          <p:nvPr/>
        </p:nvSpPr>
        <p:spPr>
          <a:xfrm>
            <a:off x="761970" y="1733520"/>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Ventana en la que los datasets alcanzan el stock de texto público generado por humanos. Es el reloj más lento y el más negociable: datos sintéticos, transferencia y eficiencia lo corren hacia adelante.</a:t>
            </a:r>
            <a:endParaRPr lang="en-US" sz="1500" dirty="0"/>
          </a:p>
        </p:txBody>
      </p:sp>
      <p:sp>
        <p:nvSpPr>
          <p:cNvPr id="5" name="Text 3"/>
          <p:cNvSpPr/>
          <p:nvPr/>
        </p:nvSpPr>
        <p:spPr>
          <a:xfrm>
            <a:off x="761970" y="2425629"/>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Consumo estimado del mayor entrenamiento individual en 2030, creciendo de 2,2x a 2,9x por año desde los más de 100 MW de hoy. Este reloj no se negocia: se construye, y tarda años.</a:t>
            </a:r>
            <a:endParaRPr lang="en-US" sz="1500" dirty="0"/>
          </a:p>
        </p:txBody>
      </p:sp>
      <p:sp>
        <p:nvSpPr>
          <p:cNvPr id="6" name="Text 4"/>
          <p:cNvSpPr/>
          <p:nvPr/>
        </p:nvSpPr>
        <p:spPr>
          <a:xfrm>
            <a:off x="761970" y="3117738"/>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Miles de millones de dólares comprometidos en 2026 por los cinco mayores proveedores de nube e infraestructura de IA, casi el doble que en 2025. Es el reloj más rápido y el más reversible.</a:t>
            </a:r>
            <a:endParaRPr lang="en-US" sz="1500" dirty="0"/>
          </a:p>
        </p:txBody>
      </p:sp>
      <p:sp>
        <p:nvSpPr>
          <p:cNvPr id="7" name="Text 5"/>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EL LÍMITE QUE NO SE NEGOCIA</a:t>
            </a:r>
            <a:endParaRPr lang="en-US" sz="1200" dirty="0"/>
          </a:p>
        </p:txBody>
      </p:sp>
      <p:sp>
        <p:nvSpPr>
          <p:cNvPr id="3" name="Text 1"/>
          <p:cNvSpPr/>
          <p:nvPr/>
        </p:nvSpPr>
        <p:spPr>
          <a:xfrm>
            <a:off x="761970" y="914400"/>
            <a:ext cx="10667756" cy="603230"/>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De cien megavatios a una central nuclear</a:t>
            </a:r>
            <a:endParaRPr lang="en-US" sz="3800" dirty="0"/>
          </a:p>
        </p:txBody>
      </p:sp>
      <p:sp>
        <p:nvSpPr>
          <p:cNvPr id="4" name="Text 2"/>
          <p:cNvSpPr/>
          <p:nvPr/>
        </p:nvSpPr>
        <p:spPr>
          <a:xfrm>
            <a:off x="761970" y="1733520"/>
            <a:ext cx="10667756" cy="95243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Fuente: Epoch AI, "How much power will frontier AI training demand in 2030?" (11 ago 2025). "The largest individual frontier training runs in 2030 will likely draw 4-16 gigawatts (GW)". Para el conjunto del sector proyectan más de 100 GW en el mundo y más de 50 GW en Estados Unidos hacia 2030, cerca del 5% de su capacidad total de generación. El cono dibujado une el punto de partida citado con el rango publicado para 2030.</a:t>
            </a:r>
            <a:endParaRPr lang="en-US" sz="15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QUIÉN ESTÁ PAGANDO LA MONEDA VIEJA</a:t>
            </a:r>
            <a:endParaRPr lang="en-US" sz="1200" dirty="0"/>
          </a:p>
        </p:txBody>
      </p:sp>
      <p:sp>
        <p:nvSpPr>
          <p:cNvPr id="3" name="Text 1"/>
          <p:cNvSpPr/>
          <p:nvPr/>
        </p:nvSpPr>
        <p:spPr>
          <a:xfrm>
            <a:off x="761970" y="914400"/>
            <a:ext cx="10667756" cy="1206459"/>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Capex comprometido para 2026, en miles de millones de dólares</a:t>
            </a:r>
            <a:endParaRPr lang="en-US" sz="3800" dirty="0"/>
          </a:p>
        </p:txBody>
      </p:sp>
      <p:sp>
        <p:nvSpPr>
          <p:cNvPr id="4" name="Text 2"/>
          <p:cNvSpPr/>
          <p:nvPr/>
        </p:nvSpPr>
        <p:spPr>
          <a:xfrm>
            <a:off x="761970" y="2336749"/>
            <a:ext cx="10667756" cy="1111179"/>
          </a:xfrm>
          <a:prstGeom prst="rect">
            <a:avLst/>
          </a:prstGeom>
          <a:noFill/>
          <a:ln/>
        </p:spPr>
        <p:txBody>
          <a:bodyPr wrap="square" rtlCol="0" anchor="t">
            <a:normAutofit/>
          </a:bodyPr>
          <a:lstStyle/>
          <a:p>
            <a:pPr algn="l" indent="0" marL="0">
              <a:lnSpc>
                <a:spcPct val="115000"/>
              </a:lnSpc>
              <a:buNone/>
            </a:pPr>
            <a:r>
              <a:rPr lang="en-US" sz="7000" dirty="0">
                <a:solidFill>
                  <a:srgbClr val="7B2233"/>
                </a:solidFill>
                <a:latin typeface="Cambria" pitchFamily="34" charset="0"/>
                <a:ea typeface="Cambria" pitchFamily="34" charset="-122"/>
                <a:cs typeface="Cambria" pitchFamily="34" charset="-120"/>
              </a:rPr>
              <a:t>675</a:t>
            </a:r>
            <a:endParaRPr lang="en-US" sz="7000" dirty="0"/>
          </a:p>
        </p:txBody>
      </p:sp>
      <p:sp>
        <p:nvSpPr>
          <p:cNvPr id="5" name="Text 3"/>
          <p:cNvSpPr/>
          <p:nvPr/>
        </p:nvSpPr>
        <p:spPr>
          <a:xfrm>
            <a:off x="761970" y="3663818"/>
            <a:ext cx="10667756" cy="95243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Fuente: Futurum Group, "AI Capex 2026: The $690B Infrastructure Sprint" (12 feb 2026): "The five largest US cloud and AI infrastructure providers have collectively committed to spending between $660 billion and $690 billion on capital expenditure in 2026, nearly doubling 2025 levels". La cifra grande es el punto medio del rango publicado.</a:t>
            </a:r>
            <a:endParaRPr lang="en-US" sz="1500" dirty="0"/>
          </a:p>
        </p:txBody>
      </p:sp>
      <p:sp>
        <p:nvSpPr>
          <p:cNvPr id="6" name="Text 4"/>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7A52"/>
        </a:solidFill>
      </p:bgPr>
    </p:bg>
    <p:spTree>
      <p:nvGrpSpPr>
        <p:cNvPr id="1" name=""/>
        <p:cNvGrpSpPr/>
        <p:nvPr/>
      </p:nvGrpSpPr>
      <p:grpSpPr>
        <a:xfrm>
          <a:off x="0" y="0"/>
          <a:ext cx="0" cy="0"/>
          <a:chOff x="0" y="0"/>
          <a:chExt cx="0" cy="0"/>
        </a:xfrm>
      </p:grpSpPr>
      <p:sp>
        <p:nvSpPr>
          <p:cNvPr id="2" name="Text 0"/>
          <p:cNvSpPr/>
          <p:nvPr/>
        </p:nvSpPr>
        <p:spPr>
          <a:xfrm>
            <a:off x="761970" y="609539"/>
            <a:ext cx="10667756" cy="1333470"/>
          </a:xfrm>
          <a:prstGeom prst="rect">
            <a:avLst/>
          </a:prstGeom>
          <a:noFill/>
          <a:ln/>
        </p:spPr>
        <p:txBody>
          <a:bodyPr wrap="square" rtlCol="0" anchor="t">
            <a:normAutofit/>
          </a:bodyPr>
          <a:lstStyle/>
          <a:p>
            <a:pPr algn="ctr" indent="0" marL="0">
              <a:lnSpc>
                <a:spcPct val="115000"/>
              </a:lnSpc>
              <a:buNone/>
            </a:pPr>
            <a:r>
              <a:rPr lang="en-US" sz="8400" dirty="0">
                <a:solidFill>
                  <a:srgbClr val="FFFFFF"/>
                </a:solidFill>
                <a:latin typeface="Cambria" pitchFamily="34" charset="0"/>
                <a:ea typeface="Cambria" pitchFamily="34" charset="-122"/>
                <a:cs typeface="Cambria" pitchFamily="34" charset="-120"/>
              </a:rPr>
              <a:t>La evidencia</a:t>
            </a:r>
            <a:endParaRPr lang="en-US" sz="8400" dirty="0"/>
          </a:p>
        </p:txBody>
      </p:sp>
      <p:sp>
        <p:nvSpPr>
          <p:cNvPr id="3" name="Text 1"/>
          <p:cNvSpPr/>
          <p:nvPr/>
        </p:nvSpPr>
        <p:spPr>
          <a:xfrm>
            <a:off x="761970" y="2158990"/>
            <a:ext cx="10667756" cy="285750"/>
          </a:xfrm>
          <a:prstGeom prst="rect">
            <a:avLst/>
          </a:prstGeom>
          <a:noFill/>
          <a:ln/>
        </p:spPr>
        <p:txBody>
          <a:bodyPr wrap="square" rtlCol="0" anchor="t">
            <a:normAutofit/>
          </a:bodyPr>
          <a:lstStyle/>
          <a:p>
            <a:pPr algn="ctr" indent="0" marL="0">
              <a:lnSpc>
                <a:spcPct val="115000"/>
              </a:lnSpc>
              <a:buNone/>
            </a:pPr>
            <a:r>
              <a:rPr lang="en-US" sz="1800" dirty="0">
                <a:solidFill>
                  <a:srgbClr val="FFFFFF"/>
                </a:solidFill>
                <a:latin typeface="Calibri" pitchFamily="34" charset="0"/>
                <a:ea typeface="Calibri" pitchFamily="34" charset="-122"/>
                <a:cs typeface="Calibri" pitchFamily="34" charset="-120"/>
              </a:rPr>
              <a:t>04 · Lo que ya se ve en el precio y en la brecha</a:t>
            </a:r>
            <a:endParaRPr lang="en-US" sz="1800" dirty="0"/>
          </a:p>
        </p:txBody>
      </p:sp>
      <p:sp>
        <p:nvSpPr>
          <p:cNvPr id="4" name="Text 2"/>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FFFFFF">
                    <a:alpha val="70000"/>
                  </a:srgbClr>
                </a:solidFill>
                <a:latin typeface="Calibri" pitchFamily="34" charset="0"/>
                <a:ea typeface="Calibri" pitchFamily="34" charset="-122"/>
                <a:cs typeface="Calibri" pitchFamily="34" charset="-120"/>
              </a:rPr>
              <a:t>Tesis de frontera · sep 2026 · 13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PRUEBA NÚMERO UNO</a:t>
            </a:r>
            <a:endParaRPr lang="en-US" sz="1200" dirty="0"/>
          </a:p>
        </p:txBody>
      </p:sp>
      <p:sp>
        <p:nvSpPr>
          <p:cNvPr id="3" name="Text 1"/>
          <p:cNvSpPr/>
          <p:nvPr/>
        </p:nvSpPr>
        <p:spPr>
          <a:xfrm>
            <a:off x="761970" y="914400"/>
            <a:ext cx="10667756" cy="1206459"/>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Dos precios que van en direcciones opuestas</a:t>
            </a:r>
            <a:endParaRPr lang="en-US" sz="3800" dirty="0"/>
          </a:p>
        </p:txBody>
      </p:sp>
      <p:sp>
        <p:nvSpPr>
          <p:cNvPr id="4" name="Text 2"/>
          <p:cNvSpPr/>
          <p:nvPr/>
        </p:nvSpPr>
        <p:spPr>
          <a:xfrm>
            <a:off x="761970" y="2336749"/>
            <a:ext cx="10667756" cy="23811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Dólares por millón de tokens para igualar el nivel de GPT-4 en MMLU, entre marzo de 2023 y febrero de 2025.</a:t>
            </a:r>
            <a:endParaRPr lang="en-US" sz="1500" dirty="0"/>
          </a:p>
        </p:txBody>
      </p:sp>
      <p:sp>
        <p:nvSpPr>
          <p:cNvPr id="5" name="Text 3"/>
          <p:cNvSpPr/>
          <p:nvPr/>
        </p:nvSpPr>
        <p:spPr>
          <a:xfrm>
            <a:off x="761970" y="2790749"/>
            <a:ext cx="10667756" cy="23811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Entrada y salida por millón de tokens, de GPT-5.6 Sol a GPT-6 Astra, en una sola generación y seis meses.</a:t>
            </a:r>
            <a:endParaRPr lang="en-US" sz="1500" dirty="0"/>
          </a:p>
        </p:txBody>
      </p:sp>
      <p:sp>
        <p:nvSpPr>
          <p:cNvPr id="6" name="Text 4"/>
          <p:cNvSpPr/>
          <p:nvPr/>
        </p:nvSpPr>
        <p:spPr>
          <a:xfrm>
            <a:off x="761970" y="3244748"/>
            <a:ext cx="10667756" cy="71432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Anthropic hace el mismo movimiento por otra vía: Fable 5.1 mantiene los 10 y 50 dólares de Fable 5 y recorta un 75% la lectura de caché, hasta 0,25 dólares. El precio de la frontera no baja: baja el precio de repetir lo que ya se pensó.</a:t>
            </a:r>
            <a:endParaRPr lang="en-US" sz="1500" dirty="0"/>
          </a:p>
        </p:txBody>
      </p:sp>
      <p:sp>
        <p:nvSpPr>
          <p:cNvPr id="7" name="Text 5"/>
          <p:cNvSpPr/>
          <p:nvPr/>
        </p:nvSpPr>
        <p:spPr>
          <a:xfrm>
            <a:off x="761970" y="4175059"/>
            <a:ext cx="10667756" cy="119064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Fuentes: anthropic.com, "Introducing Claude Fable 5.1 and Claude Mythos 5.1" (sep 2026): 10 USD entrada, 50 USD salida, 0,25 USD lectura de caché, ahorro de "around 25%" en cargas típicas y "up to around 45%" en agénticas. CloudZero, "GPT-6 Astra pricing" (sep 2026): Astra el 3 sep 2026 a 10 y 50 USD, caché 1 USD, escritura de caché 12,50 USD, ventana de 1 millón de tokens; Sol a 4 y 20 USD en tarifa promocional hasta el 21 nov 2026.</a:t>
            </a:r>
            <a:endParaRPr lang="en-US" sz="1500" dirty="0"/>
          </a:p>
        </p:txBody>
      </p:sp>
      <p:sp>
        <p:nvSpPr>
          <p:cNvPr id="8" name="Text 6"/>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PRUEBA NÚMERO DOS</a:t>
            </a:r>
            <a:endParaRPr lang="en-US" sz="1200" dirty="0"/>
          </a:p>
        </p:txBody>
      </p:sp>
      <p:sp>
        <p:nvSpPr>
          <p:cNvPr id="3" name="Text 1"/>
          <p:cNvSpPr/>
          <p:nvPr/>
        </p:nvSpPr>
        <p:spPr>
          <a:xfrm>
            <a:off x="761970" y="914400"/>
            <a:ext cx="10667756" cy="1206459"/>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Ocho puntos separan lo abierto de lo cerrado</a:t>
            </a:r>
            <a:endParaRPr lang="en-US" sz="3800" dirty="0"/>
          </a:p>
        </p:txBody>
      </p:sp>
      <p:sp>
        <p:nvSpPr>
          <p:cNvPr id="4" name="Text 2"/>
          <p:cNvSpPr/>
          <p:nvPr/>
        </p:nvSpPr>
        <p:spPr>
          <a:xfrm>
            <a:off x="761970" y="2336749"/>
            <a:ext cx="10667756" cy="952439"/>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Fuentes: Epoch AI, "Open models lag state-of-the-art closed models by 4 months" (29 may 2026): "The average ECI gap was 8 points, similar to the gap between GPT-5 and GPT-5.5". Kimi K3 (Moonshot, 2,8 billones de parámetros totales y unos 50 mil millones activos por token, 16 de 896 expertos, ventana de 1 millón de tokens) publicó pesos el 27 jul 2026, después del corte de esta medición.</a:t>
            </a:r>
            <a:endParaRPr lang="en-US" sz="15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2D7A52"/>
                </a:solidFill>
                <a:latin typeface="Calibri" pitchFamily="34" charset="0"/>
                <a:ea typeface="Calibri" pitchFamily="34" charset="-122"/>
                <a:cs typeface="Calibri" pitchFamily="34" charset="-120"/>
              </a:rPr>
              <a:t>CÓMO SABER SI ESTA TESIS ES FALSA</a:t>
            </a:r>
            <a:endParaRPr lang="en-US" sz="1200" dirty="0"/>
          </a:p>
        </p:txBody>
      </p:sp>
      <p:sp>
        <p:nvSpPr>
          <p:cNvPr id="3" name="Text 1"/>
          <p:cNvSpPr/>
          <p:nvPr/>
        </p:nvSpPr>
        <p:spPr>
          <a:xfrm>
            <a:off x="761970" y="914400"/>
            <a:ext cx="10667756" cy="603230"/>
          </a:xfrm>
          <a:prstGeom prst="rect">
            <a:avLst/>
          </a:prstGeom>
          <a:noFill/>
          <a:ln/>
        </p:spPr>
        <p:txBody>
          <a:bodyPr wrap="square" rtlCol="0" anchor="t">
            <a:normAutofit/>
          </a:bodyPr>
          <a:lstStyle/>
          <a:p>
            <a:pPr algn="l" indent="0" marL="0">
              <a:lnSpc>
                <a:spcPct val="115000"/>
              </a:lnSpc>
              <a:buNone/>
            </a:pPr>
            <a:r>
              <a:rPr lang="en-US" sz="3800" dirty="0">
                <a:solidFill>
                  <a:srgbClr val="14110F"/>
                </a:solidFill>
                <a:latin typeface="Cambria" pitchFamily="34" charset="0"/>
                <a:ea typeface="Cambria" pitchFamily="34" charset="-122"/>
                <a:cs typeface="Cambria" pitchFamily="34" charset="-120"/>
              </a:rPr>
              <a:t>Tres predicciones que se pueden desmentir</a:t>
            </a:r>
            <a:endParaRPr lang="en-US" sz="3800" dirty="0"/>
          </a:p>
        </p:txBody>
      </p:sp>
      <p:sp>
        <p:nvSpPr>
          <p:cNvPr id="4" name="Text 2"/>
          <p:cNvSpPr/>
          <p:nvPr/>
        </p:nvSpPr>
        <p:spPr>
          <a:xfrm>
            <a:off x="761970" y="1733520"/>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El mayor entrenamiento individual de 2030 caerá entre 4 y 16 GW y la restricción vinculante será la potencia contratada.</a:t>
            </a:r>
            <a:endParaRPr lang="en-US" sz="1500" dirty="0"/>
          </a:p>
        </p:txBody>
      </p:sp>
      <p:sp>
        <p:nvSpPr>
          <p:cNvPr id="5" name="Text 3"/>
          <p:cNvSpPr/>
          <p:nvPr/>
        </p:nvSpPr>
        <p:spPr>
          <a:xfrm>
            <a:off x="761970" y="2425629"/>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El retraso de los pesos abiertos se queda por debajo de seis meses de forma sostenida, porque el diferencial se juega en gasto de inferencia, no en foso de capex.</a:t>
            </a:r>
            <a:endParaRPr lang="en-US" sz="1500" dirty="0"/>
          </a:p>
        </p:txBody>
      </p:sp>
      <p:sp>
        <p:nvSpPr>
          <p:cNvPr id="6" name="Text 4"/>
          <p:cNvSpPr/>
          <p:nvPr/>
        </p:nvSpPr>
        <p:spPr>
          <a:xfrm>
            <a:off x="761970" y="3117738"/>
            <a:ext cx="10667756" cy="476220"/>
          </a:xfrm>
          <a:prstGeom prst="rect">
            <a:avLst/>
          </a:prstGeom>
          <a:noFill/>
          <a:ln/>
        </p:spPr>
        <p:txBody>
          <a:bodyPr wrap="square" rtlCol="0" anchor="t">
            <a:normAutofit/>
          </a:bodyPr>
          <a:lstStyle/>
          <a:p>
            <a:pPr algn="l" indent="0" marL="0">
              <a:lnSpc>
                <a:spcPct val="115000"/>
              </a:lnSpc>
              <a:buNone/>
            </a:pPr>
            <a:r>
              <a:rPr lang="en-US" sz="1500" dirty="0">
                <a:solidFill>
                  <a:srgbClr val="3D3833"/>
                </a:solidFill>
                <a:latin typeface="Calibri" pitchFamily="34" charset="0"/>
                <a:ea typeface="Calibri" pitchFamily="34" charset="-122"/>
                <a:cs typeface="Calibri" pitchFamily="34" charset="-120"/>
              </a:rPr>
              <a:t>El siguiente buque insignia de cualquier laboratorio grande no baja de 10 dólares por millón de tokens de entrada.</a:t>
            </a:r>
            <a:endParaRPr lang="en-US" sz="1500" dirty="0"/>
          </a:p>
        </p:txBody>
      </p:sp>
      <p:sp>
        <p:nvSpPr>
          <p:cNvPr id="7" name="Text 5"/>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6E655D"/>
                </a:solidFill>
                <a:latin typeface="Calibri" pitchFamily="34" charset="0"/>
                <a:ea typeface="Calibri" pitchFamily="34" charset="-122"/>
                <a:cs typeface="Calibri" pitchFamily="34" charset="-120"/>
              </a:rPr>
              <a:t>Tesis de frontera · sep 2026 · 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D7A52"/>
        </a:solidFill>
      </p:bgPr>
    </p:bg>
    <p:spTree>
      <p:nvGrpSpPr>
        <p:cNvPr id="1" name=""/>
        <p:cNvGrpSpPr/>
        <p:nvPr/>
      </p:nvGrpSpPr>
      <p:grpSpPr>
        <a:xfrm>
          <a:off x="0" y="0"/>
          <a:ext cx="0" cy="0"/>
          <a:chOff x="0" y="0"/>
          <a:chExt cx="0" cy="0"/>
        </a:xfrm>
      </p:grpSpPr>
      <p:sp>
        <p:nvSpPr>
          <p:cNvPr id="2" name="Text 0"/>
          <p:cNvSpPr/>
          <p:nvPr/>
        </p:nvSpPr>
        <p:spPr>
          <a:xfrm>
            <a:off x="761970" y="609539"/>
            <a:ext cx="10667756" cy="190470"/>
          </a:xfrm>
          <a:prstGeom prst="rect">
            <a:avLst/>
          </a:prstGeom>
          <a:noFill/>
          <a:ln/>
        </p:spPr>
        <p:txBody>
          <a:bodyPr wrap="square" rtlCol="0" anchor="t">
            <a:normAutofit/>
          </a:bodyPr>
          <a:lstStyle/>
          <a:p>
            <a:pPr algn="l" indent="0" marL="0">
              <a:lnSpc>
                <a:spcPct val="115000"/>
              </a:lnSpc>
              <a:buNone/>
            </a:pPr>
            <a:r>
              <a:rPr lang="en-US" sz="1200" b="1" spc="400" kern="0" dirty="0">
                <a:solidFill>
                  <a:srgbClr val="FFFFFF"/>
                </a:solidFill>
                <a:latin typeface="Calibri" pitchFamily="34" charset="0"/>
                <a:ea typeface="Calibri" pitchFamily="34" charset="-122"/>
                <a:cs typeface="Calibri" pitchFamily="34" charset="-120"/>
              </a:rPr>
              <a:t>LA INVITACIÓN</a:t>
            </a:r>
            <a:endParaRPr lang="en-US" sz="1200" dirty="0"/>
          </a:p>
        </p:txBody>
      </p:sp>
      <p:sp>
        <p:nvSpPr>
          <p:cNvPr id="3" name="Text 1"/>
          <p:cNvSpPr/>
          <p:nvPr/>
        </p:nvSpPr>
        <p:spPr>
          <a:xfrm>
            <a:off x="761970" y="914400"/>
            <a:ext cx="10667756" cy="2095439"/>
          </a:xfrm>
          <a:prstGeom prst="rect">
            <a:avLst/>
          </a:prstGeom>
          <a:noFill/>
          <a:ln/>
        </p:spPr>
        <p:txBody>
          <a:bodyPr wrap="square" rtlCol="0" anchor="t">
            <a:normAutofit/>
          </a:bodyPr>
          <a:lstStyle/>
          <a:p>
            <a:pPr algn="l" indent="0" marL="0">
              <a:lnSpc>
                <a:spcPct val="115000"/>
              </a:lnSpc>
              <a:buNone/>
            </a:pPr>
            <a:r>
              <a:rPr lang="en-US" sz="6600" dirty="0">
                <a:solidFill>
                  <a:srgbClr val="FFFFFF"/>
                </a:solidFill>
                <a:latin typeface="Cambria" pitchFamily="34" charset="0"/>
                <a:ea typeface="Cambria" pitchFamily="34" charset="-122"/>
                <a:cs typeface="Cambria" pitchFamily="34" charset="-120"/>
              </a:rPr>
              <a:t>Dejen de mirar el tamaño del clúster</a:t>
            </a:r>
            <a:endParaRPr lang="en-US" sz="6600" dirty="0"/>
          </a:p>
        </p:txBody>
      </p:sp>
      <p:sp>
        <p:nvSpPr>
          <p:cNvPr id="4" name="Text 2"/>
          <p:cNvSpPr/>
          <p:nvPr/>
        </p:nvSpPr>
        <p:spPr>
          <a:xfrm>
            <a:off x="761970" y="3225729"/>
            <a:ext cx="10667756" cy="571500"/>
          </a:xfrm>
          <a:prstGeom prst="rect">
            <a:avLst/>
          </a:prstGeom>
          <a:noFill/>
          <a:ln/>
        </p:spPr>
        <p:txBody>
          <a:bodyPr wrap="square" rtlCol="0" anchor="t">
            <a:normAutofit/>
          </a:bodyP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Miren el coste marginal del token de razonamiento. Ahí es donde se decide quién tiene frontera propia y quién la alquila</a:t>
            </a:r>
            <a:endParaRPr lang="en-US" sz="1800" dirty="0"/>
          </a:p>
        </p:txBody>
      </p:sp>
      <p:sp>
        <p:nvSpPr>
          <p:cNvPr id="5" name="Text 3"/>
          <p:cNvSpPr/>
          <p:nvPr/>
        </p:nvSpPr>
        <p:spPr>
          <a:xfrm>
            <a:off x="761970" y="6248278"/>
            <a:ext cx="10667756" cy="215890"/>
          </a:xfrm>
          <a:prstGeom prst="rect">
            <a:avLst/>
          </a:prstGeom>
          <a:noFill/>
          <a:ln/>
        </p:spPr>
        <p:txBody>
          <a:bodyPr wrap="square" rtlCol="0" anchor="ctr"/>
          <a:lstStyle/>
          <a:p>
            <a:pPr algn="r" indent="0" marL="0">
              <a:buNone/>
            </a:pPr>
            <a:r>
              <a:rPr lang="en-US" sz="1200" dirty="0">
                <a:solidFill>
                  <a:srgbClr val="FFFFFF">
                    <a:alpha val="70000"/>
                  </a:srgbClr>
                </a:solidFill>
                <a:latin typeface="Calibri" pitchFamily="34" charset="0"/>
                <a:ea typeface="Calibri" pitchFamily="34" charset="-122"/>
                <a:cs typeface="Calibri" pitchFamily="34" charset="-120"/>
              </a:rPr>
              <a:t>Tesis de frontera · sep 2026 · 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frontera cambió de moneda · tesis sobre modelos de frontera</dc:title>
  <dc:subject>PptxGenJS Presentation</dc:subject>
  <dc:creator>slizdeck</dc:creator>
  <cp:lastModifiedBy>slizdeck</cp:lastModifiedBy>
  <cp:revision>1</cp:revision>
  <dcterms:created xsi:type="dcterms:W3CDTF">2026-09-06T23:04:23Z</dcterms:created>
  <dcterms:modified xsi:type="dcterms:W3CDTF">2026-09-06T23:04:23Z</dcterms:modified>
</cp:coreProperties>
</file>